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B6A"/>
    <a:srgbClr val="DCEAF7"/>
    <a:srgbClr val="EF42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3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00B04-FC9F-374D-6E10-6C50FF1C1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7C5323-CE1A-0B1A-D0F5-4545D24E8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60EA2C-93B0-911B-1389-8401E19A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F6A7C-9D59-6199-15E5-EB178201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AAD690-B871-9DD4-81F9-F9CAEE73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56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99EC0-98A4-55CD-AC1B-B99E0D92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9046FF-A731-E2C2-1E92-CECF5DDE0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0ABFFE-24FB-8370-1F5B-CF9CD958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F16BE9-C347-5725-FC06-63811D07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B35E32-7CBC-BF5E-D29A-BBAC6F97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2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1755C-7CF7-5356-D188-710FB2D4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E684EA-48A2-8723-4B38-B408E0CD5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BC10BB-E63E-D933-9ADB-4A7BA8F1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147964-25D8-9437-614A-B18BC21C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9E07BD-E137-839D-7D7C-BB5E4A84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461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83EE1-7430-F998-BDBB-0E81281E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7FDE10-AC1A-FD7B-6CD5-DBF4C254E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629878-6D42-C4E1-4F26-D12D4CCD7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CB9A95-EF2C-770D-2822-55330AAEA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9CE0DC-B9DF-31D0-970B-7AF049DC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719086-CD2A-42FC-93D8-BD0BB753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1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03CEB-7A07-8E25-5562-E1EB812D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C56567-3C2B-D7AB-AFDE-69622B435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749C2F-0B9A-E6FB-BA0A-B196F8B8C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DF992D-428D-DB51-7D94-0341F70C3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97E9B3-F0F9-8D42-8662-A424D1BF6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511A75-8378-17CC-D712-3670CA83A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803824-3166-F481-6BC7-6D3E460C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EFEEF0-BC80-ADF4-09E3-D67E64F5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42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7BFF0-A2AA-527A-5B31-5BD8A882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40EAF68-46FE-F0E9-0AA9-99DEC806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04BC8E-D288-C5DE-302C-8DA4A542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616DE6-5FB5-BB24-0D68-99CE1369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03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EBE11AC-2C5D-5C36-99D5-99A30620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330873-E44A-775C-E944-6DC47C8F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86C460-50A1-574B-8CDD-880454B6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6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40617-BD0C-6A0F-2087-5FDD8DC37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847F71-F355-8B5F-9E5C-C08C90721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AB2B23-F047-1DF6-0557-A380AC814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559868-FB30-5329-AF63-EC38EA38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CFEF8B-49B1-4C70-2860-56100A42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9FCF1D-4356-2FE3-3B7A-A0779CB3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1145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3E081-1E9A-CBC0-6253-E9D77E6D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983291C-2313-48D4-9CF7-5A668913D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2D1ADB-FA36-805C-5013-A2FF32F60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CD2160-46F2-D97D-85C7-4525D622B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42A67A-856E-9260-8D92-48444F1F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E644F3-9985-7E94-974A-432D96AC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398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85F41-EDE6-4B8D-0A24-F54EDE37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E5ADDE-1099-43E2-7C5D-0BC396E20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A0588-6F0B-3F55-6E35-9837AF8C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5F0279-7DE1-7EB4-C688-6BCBFDB3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A5C85F-2281-87FA-5B80-F06585C3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960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4392F8-9A1C-2214-C421-D58105DE4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1FB434-07FC-977B-9F56-D6FA38863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012107-CA66-9726-B8D6-A5628F206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A04273-F357-1146-9AB1-7BA29CD71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94A3F2-3111-3595-DB38-11865890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35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6B9BE7A-6CBF-226B-5F19-7AE64C7A5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3D4CD1-DAE4-38CD-727C-B691FB5E9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025385-64AA-2DAF-BC12-4BC3B3680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7944B-6E87-4D44-B143-E5A8A350DD0F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0BFD90-EB6A-2DAC-8EFE-B9A3D7703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A053F8-C5E3-12E9-D9DF-1C793E411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FFA9-F2D9-4643-B88A-475CB46E7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88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DD13F44-668C-E0DF-343B-C4198DD67132}"/>
              </a:ext>
            </a:extLst>
          </p:cNvPr>
          <p:cNvSpPr/>
          <p:nvPr/>
        </p:nvSpPr>
        <p:spPr>
          <a:xfrm>
            <a:off x="546652" y="178904"/>
            <a:ext cx="11131826" cy="64306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Gv</a:t>
            </a:r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765EDB-2A72-47ED-E6E4-F8FDBA156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36" y="270680"/>
            <a:ext cx="1729409" cy="42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D61FAF6-5EF5-AD1E-5CED-ADA292FA52B9}"/>
              </a:ext>
            </a:extLst>
          </p:cNvPr>
          <p:cNvSpPr txBox="1"/>
          <p:nvPr/>
        </p:nvSpPr>
        <p:spPr>
          <a:xfrm>
            <a:off x="2383845" y="297574"/>
            <a:ext cx="167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GvG</a:t>
            </a:r>
            <a:r>
              <a:rPr lang="pt-BR" b="1" dirty="0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Sommelier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882C433-611E-34FA-6261-D6C8E40BE698}"/>
              </a:ext>
            </a:extLst>
          </p:cNvPr>
          <p:cNvSpPr/>
          <p:nvPr/>
        </p:nvSpPr>
        <p:spPr>
          <a:xfrm>
            <a:off x="725554" y="770851"/>
            <a:ext cx="3001617" cy="5585791"/>
          </a:xfrm>
          <a:prstGeom prst="roundRect">
            <a:avLst>
              <a:gd name="adj" fmla="val 7395"/>
            </a:avLst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 descr="Ícone do menu de hambúrguer com preenchimento sólido">
            <a:extLst>
              <a:ext uri="{FF2B5EF4-FFF2-40B4-BE49-F238E27FC236}">
                <a16:creationId xmlns:a16="http://schemas.microsoft.com/office/drawing/2014/main" id="{9E7EF5F4-6722-220C-79DB-0D202C62E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0888" y="330919"/>
            <a:ext cx="311425" cy="311425"/>
          </a:xfrm>
          <a:prstGeom prst="rect">
            <a:avLst/>
          </a:prstGeom>
        </p:spPr>
      </p:pic>
      <p:pic>
        <p:nvPicPr>
          <p:cNvPr id="12" name="Gráfico 11" descr="Usuário com preenchimento sólido">
            <a:extLst>
              <a:ext uri="{FF2B5EF4-FFF2-40B4-BE49-F238E27FC236}">
                <a16:creationId xmlns:a16="http://schemas.microsoft.com/office/drawing/2014/main" id="{68233AC8-AA8C-5AB4-2FBF-2A2EA46EEE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5019" y="326527"/>
            <a:ext cx="311425" cy="311425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A188407-4D55-EE49-42BA-87AB1C8E4909}"/>
              </a:ext>
            </a:extLst>
          </p:cNvPr>
          <p:cNvSpPr/>
          <p:nvPr/>
        </p:nvSpPr>
        <p:spPr>
          <a:xfrm>
            <a:off x="834887" y="964096"/>
            <a:ext cx="2753139" cy="546652"/>
          </a:xfrm>
          <a:prstGeom prst="roundRect">
            <a:avLst>
              <a:gd name="adj" fmla="val 336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Gráfico 14" descr="Lupa com preenchimento sólido">
            <a:extLst>
              <a:ext uri="{FF2B5EF4-FFF2-40B4-BE49-F238E27FC236}">
                <a16:creationId xmlns:a16="http://schemas.microsoft.com/office/drawing/2014/main" id="{32921D10-CB8B-E9B4-1DF2-F6D98D2E32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0825" y="1061830"/>
            <a:ext cx="351183" cy="35118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7AB9DB9E-E0AE-F0FD-F5F3-74E1A5D1D16E}"/>
              </a:ext>
            </a:extLst>
          </p:cNvPr>
          <p:cNvSpPr txBox="1"/>
          <p:nvPr/>
        </p:nvSpPr>
        <p:spPr>
          <a:xfrm>
            <a:off x="950233" y="1083532"/>
            <a:ext cx="2089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CNPJ 00.000.000/0001-00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675002E3-EC98-C64A-EB48-68247CBA96CC}"/>
              </a:ext>
            </a:extLst>
          </p:cNvPr>
          <p:cNvGrpSpPr/>
          <p:nvPr/>
        </p:nvGrpSpPr>
        <p:grpSpPr>
          <a:xfrm>
            <a:off x="833227" y="3902025"/>
            <a:ext cx="2753139" cy="2247314"/>
            <a:chOff x="834886" y="1589191"/>
            <a:chExt cx="2753139" cy="2247314"/>
          </a:xfrm>
        </p:grpSpPr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3CC8FA35-000B-25F2-6EC6-25DB921E1892}"/>
                </a:ext>
              </a:extLst>
            </p:cNvPr>
            <p:cNvSpPr/>
            <p:nvPr/>
          </p:nvSpPr>
          <p:spPr>
            <a:xfrm>
              <a:off x="834886" y="1936655"/>
              <a:ext cx="2753139" cy="1899850"/>
            </a:xfrm>
            <a:prstGeom prst="roundRect">
              <a:avLst>
                <a:gd name="adj" fmla="val 1089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BEAF6BE5-9056-2977-8995-4526F6E6A265}"/>
                </a:ext>
              </a:extLst>
            </p:cNvPr>
            <p:cNvSpPr txBox="1"/>
            <p:nvPr/>
          </p:nvSpPr>
          <p:spPr>
            <a:xfrm>
              <a:off x="834886" y="1589191"/>
              <a:ext cx="8501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2B6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Histórico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3C0C12BD-3AEF-827C-2839-6EF1A90EE6CB}"/>
                </a:ext>
              </a:extLst>
            </p:cNvPr>
            <p:cNvSpPr txBox="1"/>
            <p:nvPr/>
          </p:nvSpPr>
          <p:spPr>
            <a:xfrm>
              <a:off x="950232" y="2090542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E2E3212-B60D-D391-5899-99A7B48B3BBC}"/>
                </a:ext>
              </a:extLst>
            </p:cNvPr>
            <p:cNvSpPr/>
            <p:nvPr/>
          </p:nvSpPr>
          <p:spPr>
            <a:xfrm>
              <a:off x="950233" y="2097157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135FD72F-F878-E54A-3066-AE7590B2C149}"/>
                </a:ext>
              </a:extLst>
            </p:cNvPr>
            <p:cNvSpPr txBox="1"/>
            <p:nvPr/>
          </p:nvSpPr>
          <p:spPr>
            <a:xfrm>
              <a:off x="950232" y="2500050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AF1F0086-DC3C-000B-FDF0-F9107A88C880}"/>
                </a:ext>
              </a:extLst>
            </p:cNvPr>
            <p:cNvSpPr/>
            <p:nvPr/>
          </p:nvSpPr>
          <p:spPr>
            <a:xfrm>
              <a:off x="950233" y="2506665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84AC2FE-ED49-2CB3-2EEB-0A20D521D601}"/>
                </a:ext>
              </a:extLst>
            </p:cNvPr>
            <p:cNvSpPr txBox="1"/>
            <p:nvPr/>
          </p:nvSpPr>
          <p:spPr>
            <a:xfrm>
              <a:off x="950231" y="2928242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0D486286-464C-6BBF-6472-D3F6836F4DE2}"/>
                </a:ext>
              </a:extLst>
            </p:cNvPr>
            <p:cNvSpPr/>
            <p:nvPr/>
          </p:nvSpPr>
          <p:spPr>
            <a:xfrm>
              <a:off x="950232" y="2934857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8B6119A2-CEB7-203C-BE7E-433CD6894776}"/>
                </a:ext>
              </a:extLst>
            </p:cNvPr>
            <p:cNvSpPr txBox="1"/>
            <p:nvPr/>
          </p:nvSpPr>
          <p:spPr>
            <a:xfrm>
              <a:off x="950230" y="3335236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C7DC1462-FE64-94EB-AE4C-D1DD760842CB}"/>
                </a:ext>
              </a:extLst>
            </p:cNvPr>
            <p:cNvSpPr/>
            <p:nvPr/>
          </p:nvSpPr>
          <p:spPr>
            <a:xfrm>
              <a:off x="950231" y="3341851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Gráfico 30" descr="Seta para Direita com preenchimento sólido">
              <a:extLst>
                <a:ext uri="{FF2B5EF4-FFF2-40B4-BE49-F238E27FC236}">
                  <a16:creationId xmlns:a16="http://schemas.microsoft.com/office/drawing/2014/main" id="{381ECB88-D5CB-FE37-E93A-0844DF687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85238" y="2069327"/>
              <a:ext cx="257262" cy="363436"/>
            </a:xfrm>
            <a:prstGeom prst="rect">
              <a:avLst/>
            </a:prstGeom>
          </p:spPr>
        </p:pic>
        <p:pic>
          <p:nvPicPr>
            <p:cNvPr id="32" name="Gráfico 31" descr="Seta para Direita com preenchimento sólido">
              <a:extLst>
                <a:ext uri="{FF2B5EF4-FFF2-40B4-BE49-F238E27FC236}">
                  <a16:creationId xmlns:a16="http://schemas.microsoft.com/office/drawing/2014/main" id="{AC3171C9-AB1C-98DF-8F09-5BCAC1184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77785" y="2440308"/>
              <a:ext cx="257262" cy="363436"/>
            </a:xfrm>
            <a:prstGeom prst="rect">
              <a:avLst/>
            </a:prstGeom>
          </p:spPr>
        </p:pic>
        <p:pic>
          <p:nvPicPr>
            <p:cNvPr id="33" name="Gráfico 32" descr="Seta para Direita com preenchimento sólido">
              <a:extLst>
                <a:ext uri="{FF2B5EF4-FFF2-40B4-BE49-F238E27FC236}">
                  <a16:creationId xmlns:a16="http://schemas.microsoft.com/office/drawing/2014/main" id="{EF15ACCF-6B6E-D3F2-DA37-ECAC298CA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77785" y="2889487"/>
              <a:ext cx="257262" cy="363436"/>
            </a:xfrm>
            <a:prstGeom prst="rect">
              <a:avLst/>
            </a:prstGeom>
          </p:spPr>
        </p:pic>
        <p:pic>
          <p:nvPicPr>
            <p:cNvPr id="34" name="Gráfico 33" descr="Seta para Direita com preenchimento sólido">
              <a:extLst>
                <a:ext uri="{FF2B5EF4-FFF2-40B4-BE49-F238E27FC236}">
                  <a16:creationId xmlns:a16="http://schemas.microsoft.com/office/drawing/2014/main" id="{F3F86EA9-9704-486E-CE03-79A9C1A7B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77785" y="3286192"/>
              <a:ext cx="257262" cy="363436"/>
            </a:xfrm>
            <a:prstGeom prst="rect">
              <a:avLst/>
            </a:prstGeom>
          </p:spPr>
        </p:pic>
      </p:grp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E57E858-DAA9-327D-D182-9F4B25F767DA}"/>
              </a:ext>
            </a:extLst>
          </p:cNvPr>
          <p:cNvSpPr/>
          <p:nvPr/>
        </p:nvSpPr>
        <p:spPr>
          <a:xfrm>
            <a:off x="3924300" y="770860"/>
            <a:ext cx="1760883" cy="5585791"/>
          </a:xfrm>
          <a:prstGeom prst="roundRect">
            <a:avLst>
              <a:gd name="adj" fmla="val 7395"/>
            </a:avLst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97ADDC0-1C19-0266-3ECA-95D97E7A90FE}"/>
              </a:ext>
            </a:extLst>
          </p:cNvPr>
          <p:cNvSpPr/>
          <p:nvPr/>
        </p:nvSpPr>
        <p:spPr>
          <a:xfrm>
            <a:off x="5685183" y="770856"/>
            <a:ext cx="1760883" cy="5585791"/>
          </a:xfrm>
          <a:prstGeom prst="roundRect">
            <a:avLst>
              <a:gd name="adj" fmla="val 739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D84E94C-1F11-BE82-974A-24A3C73A96F1}"/>
              </a:ext>
            </a:extLst>
          </p:cNvPr>
          <p:cNvSpPr txBox="1"/>
          <p:nvPr/>
        </p:nvSpPr>
        <p:spPr>
          <a:xfrm>
            <a:off x="4339574" y="847989"/>
            <a:ext cx="922050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Contratos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613D15B3-5414-A005-8FD6-707A50993F53}"/>
              </a:ext>
            </a:extLst>
          </p:cNvPr>
          <p:cNvSpPr/>
          <p:nvPr/>
        </p:nvSpPr>
        <p:spPr>
          <a:xfrm>
            <a:off x="7446066" y="770852"/>
            <a:ext cx="1760883" cy="5585791"/>
          </a:xfrm>
          <a:prstGeom prst="roundRect">
            <a:avLst>
              <a:gd name="adj" fmla="val 739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Superiores Arredondados 37">
            <a:extLst>
              <a:ext uri="{FF2B5EF4-FFF2-40B4-BE49-F238E27FC236}">
                <a16:creationId xmlns:a16="http://schemas.microsoft.com/office/drawing/2014/main" id="{C49D4BEC-5CEE-39DE-D576-DE97F490D7C8}"/>
              </a:ext>
            </a:extLst>
          </p:cNvPr>
          <p:cNvSpPr/>
          <p:nvPr/>
        </p:nvSpPr>
        <p:spPr>
          <a:xfrm rot="10800000">
            <a:off x="3924298" y="1254752"/>
            <a:ext cx="7557053" cy="5101895"/>
          </a:xfrm>
          <a:prstGeom prst="round2SameRect">
            <a:avLst>
              <a:gd name="adj1" fmla="val 2251"/>
              <a:gd name="adj2" fmla="val 0"/>
            </a:avLst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2540A6E-98E6-A119-0468-99FB7D28AE8C}"/>
              </a:ext>
            </a:extLst>
          </p:cNvPr>
          <p:cNvSpPr txBox="1"/>
          <p:nvPr/>
        </p:nvSpPr>
        <p:spPr>
          <a:xfrm>
            <a:off x="6291088" y="847988"/>
            <a:ext cx="73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Editais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F49C30C-36DF-B715-3928-4254B4AA2321}"/>
              </a:ext>
            </a:extLst>
          </p:cNvPr>
          <p:cNvSpPr txBox="1"/>
          <p:nvPr/>
        </p:nvSpPr>
        <p:spPr>
          <a:xfrm>
            <a:off x="8051971" y="850814"/>
            <a:ext cx="71077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Mapas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E9067BDA-1E95-6BD5-05F1-D70B33F48ACD}"/>
              </a:ext>
            </a:extLst>
          </p:cNvPr>
          <p:cNvSpPr/>
          <p:nvPr/>
        </p:nvSpPr>
        <p:spPr>
          <a:xfrm>
            <a:off x="833226" y="1882735"/>
            <a:ext cx="2753139" cy="2019289"/>
          </a:xfrm>
          <a:prstGeom prst="roundRect">
            <a:avLst>
              <a:gd name="adj" fmla="val 1089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endParaRPr lang="pt-B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“Razão Social":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"PROMEFARMA MEDICAMENTOS E PRODUTOS HOSPITALARES LTDA"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"cep":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"81170520"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00" b="0" dirty="0" err="1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cnpj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"81706251000198"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</a:t>
            </a:r>
            <a:r>
              <a:rPr lang="pt-BR" sz="1000" b="0" dirty="0" err="1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"FINANCEIRO@PROMEFARMA.COM.BR"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"bairro":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"CIDADE INDUSTRIAL"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"numero":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</a:t>
            </a:r>
            <a:r>
              <a:rPr lang="pt-BR" sz="1000" b="0" dirty="0" err="1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municipio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"CURITIBA"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endParaRPr lang="pt-B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7C09846-C53A-B488-5CFD-C7D84BBF160D}"/>
              </a:ext>
            </a:extLst>
          </p:cNvPr>
          <p:cNvSpPr txBox="1"/>
          <p:nvPr/>
        </p:nvSpPr>
        <p:spPr>
          <a:xfrm>
            <a:off x="833226" y="1535272"/>
            <a:ext cx="651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</a:t>
            </a:r>
          </a:p>
        </p:txBody>
      </p:sp>
      <p:pic>
        <p:nvPicPr>
          <p:cNvPr id="1028" name="Imagem 1027">
            <a:extLst>
              <a:ext uri="{FF2B5EF4-FFF2-40B4-BE49-F238E27FC236}">
                <a16:creationId xmlns:a16="http://schemas.microsoft.com/office/drawing/2014/main" id="{E060421A-D9B4-F6AA-8633-928EF2F757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7777" y="1391309"/>
            <a:ext cx="7163989" cy="2069466"/>
          </a:xfrm>
          <a:prstGeom prst="rect">
            <a:avLst/>
          </a:prstGeom>
          <a:ln>
            <a:solidFill>
              <a:srgbClr val="002B6A"/>
            </a:solidFill>
          </a:ln>
        </p:spPr>
      </p:pic>
      <p:sp>
        <p:nvSpPr>
          <p:cNvPr id="1036" name="Retângulo 1035">
            <a:extLst>
              <a:ext uri="{FF2B5EF4-FFF2-40B4-BE49-F238E27FC236}">
                <a16:creationId xmlns:a16="http://schemas.microsoft.com/office/drawing/2014/main" id="{8AC1A496-B6D2-7889-BA27-274C815627DC}"/>
              </a:ext>
            </a:extLst>
          </p:cNvPr>
          <p:cNvSpPr/>
          <p:nvPr/>
        </p:nvSpPr>
        <p:spPr>
          <a:xfrm>
            <a:off x="4077777" y="3556000"/>
            <a:ext cx="7163989" cy="25933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38" name="Imagem 1037">
            <a:extLst>
              <a:ext uri="{FF2B5EF4-FFF2-40B4-BE49-F238E27FC236}">
                <a16:creationId xmlns:a16="http://schemas.microsoft.com/office/drawing/2014/main" id="{42C4898C-D831-0363-9E35-FB7C1A524E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8377" y="3611202"/>
            <a:ext cx="4558223" cy="1056350"/>
          </a:xfrm>
          <a:prstGeom prst="rect">
            <a:avLst/>
          </a:prstGeom>
        </p:spPr>
      </p:pic>
      <p:pic>
        <p:nvPicPr>
          <p:cNvPr id="1040" name="Imagem 1039">
            <a:extLst>
              <a:ext uri="{FF2B5EF4-FFF2-40B4-BE49-F238E27FC236}">
                <a16:creationId xmlns:a16="http://schemas.microsoft.com/office/drawing/2014/main" id="{08924D89-3261-12B6-D18B-B5B8F4B55B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8377" y="4641076"/>
            <a:ext cx="4604368" cy="127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4B051-C1E8-584E-C332-2A5CF7C2D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CE1EEC3-CB79-DB6D-9BCC-879B8891909C}"/>
              </a:ext>
            </a:extLst>
          </p:cNvPr>
          <p:cNvSpPr/>
          <p:nvPr/>
        </p:nvSpPr>
        <p:spPr>
          <a:xfrm>
            <a:off x="546652" y="178904"/>
            <a:ext cx="11131826" cy="64306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Gv</a:t>
            </a:r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BE78E2-DFB1-644B-D9BC-92925F2D2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36" y="270680"/>
            <a:ext cx="1729409" cy="42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FB1832C-EAFF-D4D0-E56D-89A4BEFFB711}"/>
              </a:ext>
            </a:extLst>
          </p:cNvPr>
          <p:cNvSpPr txBox="1"/>
          <p:nvPr/>
        </p:nvSpPr>
        <p:spPr>
          <a:xfrm>
            <a:off x="2383845" y="297574"/>
            <a:ext cx="167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GvG</a:t>
            </a:r>
            <a:r>
              <a:rPr lang="pt-BR" b="1" dirty="0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Sommelier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17E5227-080B-335C-D049-8DE50E75F655}"/>
              </a:ext>
            </a:extLst>
          </p:cNvPr>
          <p:cNvSpPr/>
          <p:nvPr/>
        </p:nvSpPr>
        <p:spPr>
          <a:xfrm>
            <a:off x="725554" y="770851"/>
            <a:ext cx="3001617" cy="5585791"/>
          </a:xfrm>
          <a:prstGeom prst="roundRect">
            <a:avLst>
              <a:gd name="adj" fmla="val 7395"/>
            </a:avLst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 descr="Ícone do menu de hambúrguer com preenchimento sólido">
            <a:extLst>
              <a:ext uri="{FF2B5EF4-FFF2-40B4-BE49-F238E27FC236}">
                <a16:creationId xmlns:a16="http://schemas.microsoft.com/office/drawing/2014/main" id="{3A071216-BBE6-B491-3F23-1A7322622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0888" y="330919"/>
            <a:ext cx="311425" cy="311425"/>
          </a:xfrm>
          <a:prstGeom prst="rect">
            <a:avLst/>
          </a:prstGeom>
        </p:spPr>
      </p:pic>
      <p:pic>
        <p:nvPicPr>
          <p:cNvPr id="12" name="Gráfico 11" descr="Usuário com preenchimento sólido">
            <a:extLst>
              <a:ext uri="{FF2B5EF4-FFF2-40B4-BE49-F238E27FC236}">
                <a16:creationId xmlns:a16="http://schemas.microsoft.com/office/drawing/2014/main" id="{A9F4AE28-96BB-62A8-17FC-A6AD6D47C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5019" y="326527"/>
            <a:ext cx="311425" cy="311425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4724D2-25D8-CB5A-0632-0BD092FF3D09}"/>
              </a:ext>
            </a:extLst>
          </p:cNvPr>
          <p:cNvSpPr/>
          <p:nvPr/>
        </p:nvSpPr>
        <p:spPr>
          <a:xfrm>
            <a:off x="834887" y="964096"/>
            <a:ext cx="2753139" cy="546652"/>
          </a:xfrm>
          <a:prstGeom prst="roundRect">
            <a:avLst>
              <a:gd name="adj" fmla="val 336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Gráfico 14" descr="Lupa com preenchimento sólido">
            <a:extLst>
              <a:ext uri="{FF2B5EF4-FFF2-40B4-BE49-F238E27FC236}">
                <a16:creationId xmlns:a16="http://schemas.microsoft.com/office/drawing/2014/main" id="{EAE6A9FF-156B-02ED-1216-49A54DEEFD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0825" y="1061830"/>
            <a:ext cx="351183" cy="35118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11866A6-D588-F2F4-5952-CBBD62732CED}"/>
              </a:ext>
            </a:extLst>
          </p:cNvPr>
          <p:cNvSpPr txBox="1"/>
          <p:nvPr/>
        </p:nvSpPr>
        <p:spPr>
          <a:xfrm>
            <a:off x="950233" y="1083532"/>
            <a:ext cx="2089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CNPJ 00.000.000/0001-00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A9D29A34-63EE-030E-9810-9D5BB16878E1}"/>
              </a:ext>
            </a:extLst>
          </p:cNvPr>
          <p:cNvGrpSpPr/>
          <p:nvPr/>
        </p:nvGrpSpPr>
        <p:grpSpPr>
          <a:xfrm>
            <a:off x="833227" y="3902025"/>
            <a:ext cx="2753139" cy="2247314"/>
            <a:chOff x="834886" y="1589191"/>
            <a:chExt cx="2753139" cy="2247314"/>
          </a:xfrm>
        </p:grpSpPr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929569B9-50FE-AB6B-7B2A-441D26FDE402}"/>
                </a:ext>
              </a:extLst>
            </p:cNvPr>
            <p:cNvSpPr/>
            <p:nvPr/>
          </p:nvSpPr>
          <p:spPr>
            <a:xfrm>
              <a:off x="834886" y="1936655"/>
              <a:ext cx="2753139" cy="1899850"/>
            </a:xfrm>
            <a:prstGeom prst="roundRect">
              <a:avLst>
                <a:gd name="adj" fmla="val 1089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F58790CF-D04B-92FB-C4F7-9C826C8A6B57}"/>
                </a:ext>
              </a:extLst>
            </p:cNvPr>
            <p:cNvSpPr txBox="1"/>
            <p:nvPr/>
          </p:nvSpPr>
          <p:spPr>
            <a:xfrm>
              <a:off x="834886" y="1589191"/>
              <a:ext cx="8501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2B6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Histórico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7D7CB5CE-AC3C-4836-CEDC-D64EA6823874}"/>
                </a:ext>
              </a:extLst>
            </p:cNvPr>
            <p:cNvSpPr txBox="1"/>
            <p:nvPr/>
          </p:nvSpPr>
          <p:spPr>
            <a:xfrm>
              <a:off x="950232" y="2090542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CBA6B407-8939-8EFD-9441-4D69348506DC}"/>
                </a:ext>
              </a:extLst>
            </p:cNvPr>
            <p:cNvSpPr/>
            <p:nvPr/>
          </p:nvSpPr>
          <p:spPr>
            <a:xfrm>
              <a:off x="950233" y="2097157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A44E0ECF-7381-9192-EF72-64D4CA5B078E}"/>
                </a:ext>
              </a:extLst>
            </p:cNvPr>
            <p:cNvSpPr txBox="1"/>
            <p:nvPr/>
          </p:nvSpPr>
          <p:spPr>
            <a:xfrm>
              <a:off x="950232" y="2500050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A3DF864F-9AFA-18BA-55F0-8D58661308F1}"/>
                </a:ext>
              </a:extLst>
            </p:cNvPr>
            <p:cNvSpPr/>
            <p:nvPr/>
          </p:nvSpPr>
          <p:spPr>
            <a:xfrm>
              <a:off x="950233" y="2506665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006EB6CE-D64C-714D-18D3-3D2BB77CF866}"/>
                </a:ext>
              </a:extLst>
            </p:cNvPr>
            <p:cNvSpPr txBox="1"/>
            <p:nvPr/>
          </p:nvSpPr>
          <p:spPr>
            <a:xfrm>
              <a:off x="950231" y="2928242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43B51CFC-996A-7A29-15DA-2AC12F071242}"/>
                </a:ext>
              </a:extLst>
            </p:cNvPr>
            <p:cNvSpPr/>
            <p:nvPr/>
          </p:nvSpPr>
          <p:spPr>
            <a:xfrm>
              <a:off x="950232" y="2934857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8D34382E-9706-C64D-743C-A9172DCC9127}"/>
                </a:ext>
              </a:extLst>
            </p:cNvPr>
            <p:cNvSpPr txBox="1"/>
            <p:nvPr/>
          </p:nvSpPr>
          <p:spPr>
            <a:xfrm>
              <a:off x="950230" y="3335236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2CBDF2B1-BFFE-E662-5BCC-6DCD39A9478A}"/>
                </a:ext>
              </a:extLst>
            </p:cNvPr>
            <p:cNvSpPr/>
            <p:nvPr/>
          </p:nvSpPr>
          <p:spPr>
            <a:xfrm>
              <a:off x="950231" y="3341851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Gráfico 30" descr="Seta para Direita com preenchimento sólido">
              <a:extLst>
                <a:ext uri="{FF2B5EF4-FFF2-40B4-BE49-F238E27FC236}">
                  <a16:creationId xmlns:a16="http://schemas.microsoft.com/office/drawing/2014/main" id="{AF2763A8-D2F8-0C57-70AC-9C101E4C6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85238" y="2069327"/>
              <a:ext cx="257262" cy="363436"/>
            </a:xfrm>
            <a:prstGeom prst="rect">
              <a:avLst/>
            </a:prstGeom>
          </p:spPr>
        </p:pic>
        <p:pic>
          <p:nvPicPr>
            <p:cNvPr id="32" name="Gráfico 31" descr="Seta para Direita com preenchimento sólido">
              <a:extLst>
                <a:ext uri="{FF2B5EF4-FFF2-40B4-BE49-F238E27FC236}">
                  <a16:creationId xmlns:a16="http://schemas.microsoft.com/office/drawing/2014/main" id="{47D04DA2-E481-C88E-0710-5A9C7535D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77785" y="2440308"/>
              <a:ext cx="257262" cy="363436"/>
            </a:xfrm>
            <a:prstGeom prst="rect">
              <a:avLst/>
            </a:prstGeom>
          </p:spPr>
        </p:pic>
        <p:pic>
          <p:nvPicPr>
            <p:cNvPr id="33" name="Gráfico 32" descr="Seta para Direita com preenchimento sólido">
              <a:extLst>
                <a:ext uri="{FF2B5EF4-FFF2-40B4-BE49-F238E27FC236}">
                  <a16:creationId xmlns:a16="http://schemas.microsoft.com/office/drawing/2014/main" id="{1F9057B6-9DCD-64EF-ABB8-272DAA3DA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77785" y="2889487"/>
              <a:ext cx="257262" cy="363436"/>
            </a:xfrm>
            <a:prstGeom prst="rect">
              <a:avLst/>
            </a:prstGeom>
          </p:spPr>
        </p:pic>
        <p:pic>
          <p:nvPicPr>
            <p:cNvPr id="34" name="Gráfico 33" descr="Seta para Direita com preenchimento sólido">
              <a:extLst>
                <a:ext uri="{FF2B5EF4-FFF2-40B4-BE49-F238E27FC236}">
                  <a16:creationId xmlns:a16="http://schemas.microsoft.com/office/drawing/2014/main" id="{EE4FF9BA-1580-A6D3-0D90-4391C7B60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77785" y="3286192"/>
              <a:ext cx="257262" cy="363436"/>
            </a:xfrm>
            <a:prstGeom prst="rect">
              <a:avLst/>
            </a:prstGeom>
          </p:spPr>
        </p:pic>
      </p:grp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96B4379A-BD94-AA7E-4923-00C3CB59B54F}"/>
              </a:ext>
            </a:extLst>
          </p:cNvPr>
          <p:cNvSpPr/>
          <p:nvPr/>
        </p:nvSpPr>
        <p:spPr>
          <a:xfrm>
            <a:off x="3924300" y="770860"/>
            <a:ext cx="1760883" cy="5585791"/>
          </a:xfrm>
          <a:prstGeom prst="roundRect">
            <a:avLst>
              <a:gd name="adj" fmla="val 739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94E3F204-C135-C242-ACA4-CC3B7FF6F02D}"/>
              </a:ext>
            </a:extLst>
          </p:cNvPr>
          <p:cNvSpPr/>
          <p:nvPr/>
        </p:nvSpPr>
        <p:spPr>
          <a:xfrm>
            <a:off x="5685183" y="770856"/>
            <a:ext cx="1760883" cy="5585791"/>
          </a:xfrm>
          <a:prstGeom prst="roundRect">
            <a:avLst>
              <a:gd name="adj" fmla="val 7395"/>
            </a:avLst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52AD6FA-8024-C328-8CED-5FC2944E6FB3}"/>
              </a:ext>
            </a:extLst>
          </p:cNvPr>
          <p:cNvSpPr txBox="1"/>
          <p:nvPr/>
        </p:nvSpPr>
        <p:spPr>
          <a:xfrm>
            <a:off x="4339574" y="847989"/>
            <a:ext cx="922050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Contratos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54AE25E3-A13B-0AEB-FE5A-F7E8829F1CF3}"/>
              </a:ext>
            </a:extLst>
          </p:cNvPr>
          <p:cNvSpPr/>
          <p:nvPr/>
        </p:nvSpPr>
        <p:spPr>
          <a:xfrm>
            <a:off x="7446066" y="770852"/>
            <a:ext cx="1760883" cy="5585791"/>
          </a:xfrm>
          <a:prstGeom prst="roundRect">
            <a:avLst>
              <a:gd name="adj" fmla="val 739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Superiores Arredondados 37">
            <a:extLst>
              <a:ext uri="{FF2B5EF4-FFF2-40B4-BE49-F238E27FC236}">
                <a16:creationId xmlns:a16="http://schemas.microsoft.com/office/drawing/2014/main" id="{443BE2BB-A7F4-F982-A358-50EE95535B46}"/>
              </a:ext>
            </a:extLst>
          </p:cNvPr>
          <p:cNvSpPr/>
          <p:nvPr/>
        </p:nvSpPr>
        <p:spPr>
          <a:xfrm rot="10800000">
            <a:off x="3924298" y="1254752"/>
            <a:ext cx="7557053" cy="5101895"/>
          </a:xfrm>
          <a:prstGeom prst="round2SameRect">
            <a:avLst>
              <a:gd name="adj1" fmla="val 2251"/>
              <a:gd name="adj2" fmla="val 0"/>
            </a:avLst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BAD08FF-13B7-5EBC-F8CE-F3CA3C35082D}"/>
              </a:ext>
            </a:extLst>
          </p:cNvPr>
          <p:cNvSpPr txBox="1"/>
          <p:nvPr/>
        </p:nvSpPr>
        <p:spPr>
          <a:xfrm>
            <a:off x="6291088" y="847988"/>
            <a:ext cx="73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Editais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09B646D-8FCF-6B41-C73D-678026521359}"/>
              </a:ext>
            </a:extLst>
          </p:cNvPr>
          <p:cNvSpPr txBox="1"/>
          <p:nvPr/>
        </p:nvSpPr>
        <p:spPr>
          <a:xfrm>
            <a:off x="8051971" y="850814"/>
            <a:ext cx="71077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Mapas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E2FB7F4F-E484-DDC6-7ABB-EBBAAB04C229}"/>
              </a:ext>
            </a:extLst>
          </p:cNvPr>
          <p:cNvSpPr/>
          <p:nvPr/>
        </p:nvSpPr>
        <p:spPr>
          <a:xfrm>
            <a:off x="833226" y="1882735"/>
            <a:ext cx="2753139" cy="2019289"/>
          </a:xfrm>
          <a:prstGeom prst="roundRect">
            <a:avLst>
              <a:gd name="adj" fmla="val 1089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endParaRPr lang="pt-B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“Razão Social":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"PROMEFARMA MEDICAMENTOS E PRODUTOS HOSPITALARES LTDA"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"cep":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"81170520"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00" b="0" dirty="0" err="1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cnpj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"81706251000198"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</a:t>
            </a:r>
            <a:r>
              <a:rPr lang="pt-BR" sz="1000" b="0" dirty="0" err="1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"FINANCEIRO@PROMEFARMA.COM.BR"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"bairro":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"CIDADE INDUSTRIAL"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"numero":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</a:t>
            </a:r>
            <a:r>
              <a:rPr lang="pt-BR" sz="1000" b="0" dirty="0" err="1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municipio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"CURITIBA"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endParaRPr lang="pt-B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7EBE71DB-1146-CB4E-A52D-91B87083BB2C}"/>
              </a:ext>
            </a:extLst>
          </p:cNvPr>
          <p:cNvSpPr txBox="1"/>
          <p:nvPr/>
        </p:nvSpPr>
        <p:spPr>
          <a:xfrm>
            <a:off x="833226" y="1535272"/>
            <a:ext cx="651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</a:t>
            </a:r>
          </a:p>
        </p:txBody>
      </p:sp>
      <p:pic>
        <p:nvPicPr>
          <p:cNvPr id="1028" name="Imagem 1027">
            <a:extLst>
              <a:ext uri="{FF2B5EF4-FFF2-40B4-BE49-F238E27FC236}">
                <a16:creationId xmlns:a16="http://schemas.microsoft.com/office/drawing/2014/main" id="{28D84934-29D5-FF19-3231-401B6E35CC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7777" y="1391309"/>
            <a:ext cx="7163989" cy="2069466"/>
          </a:xfrm>
          <a:prstGeom prst="rect">
            <a:avLst/>
          </a:prstGeom>
          <a:ln>
            <a:solidFill>
              <a:srgbClr val="002B6A"/>
            </a:solidFill>
          </a:ln>
        </p:spPr>
      </p:pic>
      <p:sp>
        <p:nvSpPr>
          <p:cNvPr id="1036" name="Retângulo 1035">
            <a:extLst>
              <a:ext uri="{FF2B5EF4-FFF2-40B4-BE49-F238E27FC236}">
                <a16:creationId xmlns:a16="http://schemas.microsoft.com/office/drawing/2014/main" id="{BEC0F142-5C97-6D04-D09B-AABD6F0DF328}"/>
              </a:ext>
            </a:extLst>
          </p:cNvPr>
          <p:cNvSpPr/>
          <p:nvPr/>
        </p:nvSpPr>
        <p:spPr>
          <a:xfrm>
            <a:off x="4077777" y="3556000"/>
            <a:ext cx="7163989" cy="25933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38" name="Imagem 1037">
            <a:extLst>
              <a:ext uri="{FF2B5EF4-FFF2-40B4-BE49-F238E27FC236}">
                <a16:creationId xmlns:a16="http://schemas.microsoft.com/office/drawing/2014/main" id="{6567C635-821C-347B-030B-120D598A0C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8377" y="3611202"/>
            <a:ext cx="4558223" cy="1056350"/>
          </a:xfrm>
          <a:prstGeom prst="rect">
            <a:avLst/>
          </a:prstGeom>
        </p:spPr>
      </p:pic>
      <p:pic>
        <p:nvPicPr>
          <p:cNvPr id="1040" name="Imagem 1039">
            <a:extLst>
              <a:ext uri="{FF2B5EF4-FFF2-40B4-BE49-F238E27FC236}">
                <a16:creationId xmlns:a16="http://schemas.microsoft.com/office/drawing/2014/main" id="{E1BEB20F-7D84-EB42-9AAE-DDCA5DE188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8377" y="4641076"/>
            <a:ext cx="4604368" cy="127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2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8FFAE-1EE9-3CFD-E935-190FD3D8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C93E4D2-0088-3986-3A90-2EE60CF354F9}"/>
              </a:ext>
            </a:extLst>
          </p:cNvPr>
          <p:cNvSpPr/>
          <p:nvPr/>
        </p:nvSpPr>
        <p:spPr>
          <a:xfrm>
            <a:off x="546652" y="178904"/>
            <a:ext cx="11131826" cy="64306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Gv</a:t>
            </a:r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E28A43-4702-8804-F43C-511E834A9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36" y="270680"/>
            <a:ext cx="1729409" cy="42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45B04D5-FD66-7609-FBE9-661371FCC5DA}"/>
              </a:ext>
            </a:extLst>
          </p:cNvPr>
          <p:cNvSpPr txBox="1"/>
          <p:nvPr/>
        </p:nvSpPr>
        <p:spPr>
          <a:xfrm>
            <a:off x="2383845" y="297574"/>
            <a:ext cx="167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GvG</a:t>
            </a:r>
            <a:r>
              <a:rPr lang="pt-BR" b="1" dirty="0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Sommelier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B37D808-1EC8-1891-D4EC-5744C9757497}"/>
              </a:ext>
            </a:extLst>
          </p:cNvPr>
          <p:cNvSpPr/>
          <p:nvPr/>
        </p:nvSpPr>
        <p:spPr>
          <a:xfrm>
            <a:off x="725554" y="770851"/>
            <a:ext cx="3001617" cy="5585791"/>
          </a:xfrm>
          <a:prstGeom prst="roundRect">
            <a:avLst>
              <a:gd name="adj" fmla="val 7395"/>
            </a:avLst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 descr="Ícone do menu de hambúrguer com preenchimento sólido">
            <a:extLst>
              <a:ext uri="{FF2B5EF4-FFF2-40B4-BE49-F238E27FC236}">
                <a16:creationId xmlns:a16="http://schemas.microsoft.com/office/drawing/2014/main" id="{BD91DB46-8380-43B7-00FD-572C8D48E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0888" y="330919"/>
            <a:ext cx="311425" cy="311425"/>
          </a:xfrm>
          <a:prstGeom prst="rect">
            <a:avLst/>
          </a:prstGeom>
        </p:spPr>
      </p:pic>
      <p:pic>
        <p:nvPicPr>
          <p:cNvPr id="12" name="Gráfico 11" descr="Usuário com preenchimento sólido">
            <a:extLst>
              <a:ext uri="{FF2B5EF4-FFF2-40B4-BE49-F238E27FC236}">
                <a16:creationId xmlns:a16="http://schemas.microsoft.com/office/drawing/2014/main" id="{69774E62-BEA2-C2A1-7BC7-6FFCD089F9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5019" y="326527"/>
            <a:ext cx="311425" cy="311425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A55E9EA-A209-D417-4D3A-E0B04B8552FA}"/>
              </a:ext>
            </a:extLst>
          </p:cNvPr>
          <p:cNvSpPr/>
          <p:nvPr/>
        </p:nvSpPr>
        <p:spPr>
          <a:xfrm>
            <a:off x="834887" y="964096"/>
            <a:ext cx="2753139" cy="546652"/>
          </a:xfrm>
          <a:prstGeom prst="roundRect">
            <a:avLst>
              <a:gd name="adj" fmla="val 336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Gráfico 14" descr="Lupa com preenchimento sólido">
            <a:extLst>
              <a:ext uri="{FF2B5EF4-FFF2-40B4-BE49-F238E27FC236}">
                <a16:creationId xmlns:a16="http://schemas.microsoft.com/office/drawing/2014/main" id="{7DDD3A26-8622-234D-76BD-953598E50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0825" y="1061830"/>
            <a:ext cx="351183" cy="35118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CC93CC-1D75-7008-95CA-7F4396D5AE60}"/>
              </a:ext>
            </a:extLst>
          </p:cNvPr>
          <p:cNvSpPr txBox="1"/>
          <p:nvPr/>
        </p:nvSpPr>
        <p:spPr>
          <a:xfrm>
            <a:off x="950233" y="1083532"/>
            <a:ext cx="2089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CNPJ 00.000.000/0001-00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1EBBFB6A-DB0E-6EF7-18D4-C05D5CB9E7DE}"/>
              </a:ext>
            </a:extLst>
          </p:cNvPr>
          <p:cNvGrpSpPr/>
          <p:nvPr/>
        </p:nvGrpSpPr>
        <p:grpSpPr>
          <a:xfrm>
            <a:off x="833227" y="3902025"/>
            <a:ext cx="2753139" cy="2247314"/>
            <a:chOff x="834886" y="1589191"/>
            <a:chExt cx="2753139" cy="2247314"/>
          </a:xfrm>
        </p:grpSpPr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CACD18CD-60D8-8032-DCC2-975F53876E0C}"/>
                </a:ext>
              </a:extLst>
            </p:cNvPr>
            <p:cNvSpPr/>
            <p:nvPr/>
          </p:nvSpPr>
          <p:spPr>
            <a:xfrm>
              <a:off x="834886" y="1936655"/>
              <a:ext cx="2753139" cy="1899850"/>
            </a:xfrm>
            <a:prstGeom prst="roundRect">
              <a:avLst>
                <a:gd name="adj" fmla="val 1089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A118864E-A045-6B22-B24A-27FF828B1C5C}"/>
                </a:ext>
              </a:extLst>
            </p:cNvPr>
            <p:cNvSpPr txBox="1"/>
            <p:nvPr/>
          </p:nvSpPr>
          <p:spPr>
            <a:xfrm>
              <a:off x="834886" y="1589191"/>
              <a:ext cx="8501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rgbClr val="002B6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Histórico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374C500D-2DD2-3BD2-DAF9-BFF6709F6CA7}"/>
                </a:ext>
              </a:extLst>
            </p:cNvPr>
            <p:cNvSpPr txBox="1"/>
            <p:nvPr/>
          </p:nvSpPr>
          <p:spPr>
            <a:xfrm>
              <a:off x="950232" y="2090542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80735C84-9ED7-BBAF-1939-6C5D7BAEE434}"/>
                </a:ext>
              </a:extLst>
            </p:cNvPr>
            <p:cNvSpPr/>
            <p:nvPr/>
          </p:nvSpPr>
          <p:spPr>
            <a:xfrm>
              <a:off x="950233" y="2097157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E7278408-84D6-02D6-93EC-600352E9250C}"/>
                </a:ext>
              </a:extLst>
            </p:cNvPr>
            <p:cNvSpPr txBox="1"/>
            <p:nvPr/>
          </p:nvSpPr>
          <p:spPr>
            <a:xfrm>
              <a:off x="950232" y="2500050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8B9794D0-9D3B-6451-77E8-68C3276E2C0D}"/>
                </a:ext>
              </a:extLst>
            </p:cNvPr>
            <p:cNvSpPr/>
            <p:nvPr/>
          </p:nvSpPr>
          <p:spPr>
            <a:xfrm>
              <a:off x="950233" y="2506665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4A6B2A53-86C3-7BBA-FF22-F9FC019E211D}"/>
                </a:ext>
              </a:extLst>
            </p:cNvPr>
            <p:cNvSpPr txBox="1"/>
            <p:nvPr/>
          </p:nvSpPr>
          <p:spPr>
            <a:xfrm>
              <a:off x="950231" y="2928242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20706BF0-40A6-9149-1E3A-0E92BA38DD36}"/>
                </a:ext>
              </a:extLst>
            </p:cNvPr>
            <p:cNvSpPr/>
            <p:nvPr/>
          </p:nvSpPr>
          <p:spPr>
            <a:xfrm>
              <a:off x="950232" y="2934857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842EA6F7-C263-288B-52D3-F211AD150DF8}"/>
                </a:ext>
              </a:extLst>
            </p:cNvPr>
            <p:cNvSpPr txBox="1"/>
            <p:nvPr/>
          </p:nvSpPr>
          <p:spPr>
            <a:xfrm>
              <a:off x="950230" y="3335236"/>
              <a:ext cx="20894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CNPJ 00.000.001/0001-00</a:t>
              </a: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36AD7682-B3BC-887D-F9A1-ED4BB590B360}"/>
                </a:ext>
              </a:extLst>
            </p:cNvPr>
            <p:cNvSpPr/>
            <p:nvPr/>
          </p:nvSpPr>
          <p:spPr>
            <a:xfrm>
              <a:off x="950231" y="3341851"/>
              <a:ext cx="2089483" cy="307777"/>
            </a:xfrm>
            <a:prstGeom prst="roundRect">
              <a:avLst>
                <a:gd name="adj" fmla="val 295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Gráfico 30" descr="Seta para Direita com preenchimento sólido">
              <a:extLst>
                <a:ext uri="{FF2B5EF4-FFF2-40B4-BE49-F238E27FC236}">
                  <a16:creationId xmlns:a16="http://schemas.microsoft.com/office/drawing/2014/main" id="{BE38206E-42B3-D4F1-405F-E1E8A3730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85238" y="2069327"/>
              <a:ext cx="257262" cy="363436"/>
            </a:xfrm>
            <a:prstGeom prst="rect">
              <a:avLst/>
            </a:prstGeom>
          </p:spPr>
        </p:pic>
        <p:pic>
          <p:nvPicPr>
            <p:cNvPr id="32" name="Gráfico 31" descr="Seta para Direita com preenchimento sólido">
              <a:extLst>
                <a:ext uri="{FF2B5EF4-FFF2-40B4-BE49-F238E27FC236}">
                  <a16:creationId xmlns:a16="http://schemas.microsoft.com/office/drawing/2014/main" id="{0DE0AA2E-D63A-5A62-DDC0-FCB6A5C90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77785" y="2440308"/>
              <a:ext cx="257262" cy="363436"/>
            </a:xfrm>
            <a:prstGeom prst="rect">
              <a:avLst/>
            </a:prstGeom>
          </p:spPr>
        </p:pic>
        <p:pic>
          <p:nvPicPr>
            <p:cNvPr id="33" name="Gráfico 32" descr="Seta para Direita com preenchimento sólido">
              <a:extLst>
                <a:ext uri="{FF2B5EF4-FFF2-40B4-BE49-F238E27FC236}">
                  <a16:creationId xmlns:a16="http://schemas.microsoft.com/office/drawing/2014/main" id="{B727AC7B-64DA-9A3B-D971-D3231195E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77785" y="2889487"/>
              <a:ext cx="257262" cy="363436"/>
            </a:xfrm>
            <a:prstGeom prst="rect">
              <a:avLst/>
            </a:prstGeom>
          </p:spPr>
        </p:pic>
        <p:pic>
          <p:nvPicPr>
            <p:cNvPr id="34" name="Gráfico 33" descr="Seta para Direita com preenchimento sólido">
              <a:extLst>
                <a:ext uri="{FF2B5EF4-FFF2-40B4-BE49-F238E27FC236}">
                  <a16:creationId xmlns:a16="http://schemas.microsoft.com/office/drawing/2014/main" id="{86A15019-4D9D-4B7C-0231-6DB2E7AF2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77785" y="3286192"/>
              <a:ext cx="257262" cy="363436"/>
            </a:xfrm>
            <a:prstGeom prst="rect">
              <a:avLst/>
            </a:prstGeom>
          </p:spPr>
        </p:pic>
      </p:grp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8608E20-0EB6-511F-4F25-408B506D7482}"/>
              </a:ext>
            </a:extLst>
          </p:cNvPr>
          <p:cNvSpPr/>
          <p:nvPr/>
        </p:nvSpPr>
        <p:spPr>
          <a:xfrm>
            <a:off x="3924300" y="770860"/>
            <a:ext cx="1760883" cy="5585791"/>
          </a:xfrm>
          <a:prstGeom prst="roundRect">
            <a:avLst>
              <a:gd name="adj" fmla="val 739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1452E9CE-8260-D14D-6598-D6E4DA69B9AA}"/>
              </a:ext>
            </a:extLst>
          </p:cNvPr>
          <p:cNvSpPr/>
          <p:nvPr/>
        </p:nvSpPr>
        <p:spPr>
          <a:xfrm>
            <a:off x="5685183" y="770856"/>
            <a:ext cx="1760883" cy="5585791"/>
          </a:xfrm>
          <a:prstGeom prst="roundRect">
            <a:avLst>
              <a:gd name="adj" fmla="val 739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8123DA6-3473-F9EB-70E7-AA5A8CBB1B83}"/>
              </a:ext>
            </a:extLst>
          </p:cNvPr>
          <p:cNvSpPr txBox="1"/>
          <p:nvPr/>
        </p:nvSpPr>
        <p:spPr>
          <a:xfrm>
            <a:off x="4339574" y="847989"/>
            <a:ext cx="922050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Contratos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5936038C-6761-33F3-7B51-D5CA6F988D8E}"/>
              </a:ext>
            </a:extLst>
          </p:cNvPr>
          <p:cNvSpPr/>
          <p:nvPr/>
        </p:nvSpPr>
        <p:spPr>
          <a:xfrm>
            <a:off x="7446066" y="770852"/>
            <a:ext cx="1760883" cy="5585791"/>
          </a:xfrm>
          <a:prstGeom prst="roundRect">
            <a:avLst>
              <a:gd name="adj" fmla="val 7395"/>
            </a:avLst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Superiores Arredondados 37">
            <a:extLst>
              <a:ext uri="{FF2B5EF4-FFF2-40B4-BE49-F238E27FC236}">
                <a16:creationId xmlns:a16="http://schemas.microsoft.com/office/drawing/2014/main" id="{C6CD51E4-46C8-14D4-05FF-10CF2A9586C7}"/>
              </a:ext>
            </a:extLst>
          </p:cNvPr>
          <p:cNvSpPr/>
          <p:nvPr/>
        </p:nvSpPr>
        <p:spPr>
          <a:xfrm rot="10800000">
            <a:off x="3924298" y="1254752"/>
            <a:ext cx="7557053" cy="5101895"/>
          </a:xfrm>
          <a:prstGeom prst="round2SameRect">
            <a:avLst>
              <a:gd name="adj1" fmla="val 2251"/>
              <a:gd name="adj2" fmla="val 0"/>
            </a:avLst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03ACBAF-D4F9-0555-8433-12B8D095F33C}"/>
              </a:ext>
            </a:extLst>
          </p:cNvPr>
          <p:cNvSpPr txBox="1"/>
          <p:nvPr/>
        </p:nvSpPr>
        <p:spPr>
          <a:xfrm>
            <a:off x="6291088" y="847988"/>
            <a:ext cx="73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Editais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DD5FCCB-B240-831D-3C3A-0442DAE39066}"/>
              </a:ext>
            </a:extLst>
          </p:cNvPr>
          <p:cNvSpPr txBox="1"/>
          <p:nvPr/>
        </p:nvSpPr>
        <p:spPr>
          <a:xfrm>
            <a:off x="8051971" y="850814"/>
            <a:ext cx="71077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Mapas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C2F4E820-278F-CE61-89E2-688858BA47C9}"/>
              </a:ext>
            </a:extLst>
          </p:cNvPr>
          <p:cNvSpPr/>
          <p:nvPr/>
        </p:nvSpPr>
        <p:spPr>
          <a:xfrm>
            <a:off x="833226" y="1882735"/>
            <a:ext cx="2753139" cy="2019289"/>
          </a:xfrm>
          <a:prstGeom prst="roundRect">
            <a:avLst>
              <a:gd name="adj" fmla="val 1089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endParaRPr lang="pt-B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“Razão Social":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"PROMEFARMA MEDICAMENTOS E PRODUTOS HOSPITALARES LTDA"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"cep":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"81170520"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00" b="0" dirty="0" err="1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cnpj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"81706251000198"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</a:t>
            </a:r>
            <a:r>
              <a:rPr lang="pt-BR" sz="1000" b="0" dirty="0" err="1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"FINANCEIRO@PROMEFARMA.COM.BR"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"bairro":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"CIDADE INDUSTRIAL"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"numero":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  "</a:t>
            </a:r>
            <a:r>
              <a:rPr lang="pt-BR" sz="1000" b="0" dirty="0" err="1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municipio</a:t>
            </a:r>
            <a:r>
              <a:rPr lang="pt-BR" sz="1000" b="0" dirty="0">
                <a:solidFill>
                  <a:srgbClr val="002B6A"/>
                </a:solidFill>
                <a:effectLst/>
                <a:latin typeface="Consolas" panose="020B0609020204030204" pitchFamily="49" charset="0"/>
              </a:rPr>
              <a:t>": </a:t>
            </a:r>
            <a:r>
              <a:rPr lang="pt-B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"CURITIBA"</a:t>
            </a:r>
            <a:r>
              <a:rPr lang="pt-B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endParaRPr lang="pt-B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72ACDACE-399E-E3A0-C3DB-F1328DDC470C}"/>
              </a:ext>
            </a:extLst>
          </p:cNvPr>
          <p:cNvSpPr txBox="1"/>
          <p:nvPr/>
        </p:nvSpPr>
        <p:spPr>
          <a:xfrm>
            <a:off x="833226" y="1535272"/>
            <a:ext cx="651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</a:t>
            </a:r>
          </a:p>
        </p:txBody>
      </p:sp>
      <p:pic>
        <p:nvPicPr>
          <p:cNvPr id="2050" name="Picture 2" descr="Aprenda Python - Construa aplicações reais - TechNote Inc.">
            <a:extLst>
              <a:ext uri="{FF2B5EF4-FFF2-40B4-BE49-F238E27FC236}">
                <a16:creationId xmlns:a16="http://schemas.microsoft.com/office/drawing/2014/main" id="{153DEEE0-B25E-67B4-894E-88E6403B5C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" t="2628" r="1800" b="16817"/>
          <a:stretch>
            <a:fillRect/>
          </a:stretch>
        </p:blipFill>
        <p:spPr bwMode="auto">
          <a:xfrm>
            <a:off x="4155440" y="1413013"/>
            <a:ext cx="7087986" cy="48036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luxograma: Mesclar 2">
            <a:extLst>
              <a:ext uri="{FF2B5EF4-FFF2-40B4-BE49-F238E27FC236}">
                <a16:creationId xmlns:a16="http://schemas.microsoft.com/office/drawing/2014/main" id="{AEB1195C-40A9-7417-5D4B-78A088369B55}"/>
              </a:ext>
            </a:extLst>
          </p:cNvPr>
          <p:cNvSpPr/>
          <p:nvPr/>
        </p:nvSpPr>
        <p:spPr>
          <a:xfrm>
            <a:off x="4290998" y="1689160"/>
            <a:ext cx="148922" cy="193575"/>
          </a:xfrm>
          <a:prstGeom prst="flowChartMerg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luxograma: Mesclar 7">
            <a:extLst>
              <a:ext uri="{FF2B5EF4-FFF2-40B4-BE49-F238E27FC236}">
                <a16:creationId xmlns:a16="http://schemas.microsoft.com/office/drawing/2014/main" id="{35A3F52D-BA5B-C882-CA40-9F741CC2B0A6}"/>
              </a:ext>
            </a:extLst>
          </p:cNvPr>
          <p:cNvSpPr/>
          <p:nvPr/>
        </p:nvSpPr>
        <p:spPr>
          <a:xfrm>
            <a:off x="4290998" y="2038038"/>
            <a:ext cx="148922" cy="193575"/>
          </a:xfrm>
          <a:prstGeom prst="flowChartMerge">
            <a:avLst/>
          </a:prstGeom>
          <a:solidFill>
            <a:srgbClr val="C000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742D7D-718B-68ED-E91C-06D90C51A8B7}"/>
              </a:ext>
            </a:extLst>
          </p:cNvPr>
          <p:cNvSpPr txBox="1"/>
          <p:nvPr/>
        </p:nvSpPr>
        <p:spPr>
          <a:xfrm>
            <a:off x="4416192" y="1614284"/>
            <a:ext cx="1112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Contratos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FFEFD16-FCA8-D077-BCFB-0FD582EFAA2D}"/>
              </a:ext>
            </a:extLst>
          </p:cNvPr>
          <p:cNvSpPr txBox="1"/>
          <p:nvPr/>
        </p:nvSpPr>
        <p:spPr>
          <a:xfrm>
            <a:off x="4431893" y="1986689"/>
            <a:ext cx="1112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002B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Editais</a:t>
            </a:r>
          </a:p>
        </p:txBody>
      </p:sp>
      <p:sp>
        <p:nvSpPr>
          <p:cNvPr id="14" name="Fluxograma: Mesclar 13">
            <a:extLst>
              <a:ext uri="{FF2B5EF4-FFF2-40B4-BE49-F238E27FC236}">
                <a16:creationId xmlns:a16="http://schemas.microsoft.com/office/drawing/2014/main" id="{97A7729E-A708-024E-6D2F-E336D2D5FFF5}"/>
              </a:ext>
            </a:extLst>
          </p:cNvPr>
          <p:cNvSpPr/>
          <p:nvPr/>
        </p:nvSpPr>
        <p:spPr>
          <a:xfrm>
            <a:off x="9757078" y="4460476"/>
            <a:ext cx="148922" cy="193575"/>
          </a:xfrm>
          <a:prstGeom prst="flowChartMerg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Fluxograma: Mesclar 19">
            <a:extLst>
              <a:ext uri="{FF2B5EF4-FFF2-40B4-BE49-F238E27FC236}">
                <a16:creationId xmlns:a16="http://schemas.microsoft.com/office/drawing/2014/main" id="{EF9116BF-E685-55A0-3AB5-4D536533FF5A}"/>
              </a:ext>
            </a:extLst>
          </p:cNvPr>
          <p:cNvSpPr/>
          <p:nvPr/>
        </p:nvSpPr>
        <p:spPr>
          <a:xfrm>
            <a:off x="9176989" y="3563746"/>
            <a:ext cx="148922" cy="193575"/>
          </a:xfrm>
          <a:prstGeom prst="flowChartMerg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Fluxograma: Mesclar 20">
            <a:extLst>
              <a:ext uri="{FF2B5EF4-FFF2-40B4-BE49-F238E27FC236}">
                <a16:creationId xmlns:a16="http://schemas.microsoft.com/office/drawing/2014/main" id="{3BD18A41-512B-40B9-6F86-84880A61A6AD}"/>
              </a:ext>
            </a:extLst>
          </p:cNvPr>
          <p:cNvSpPr/>
          <p:nvPr/>
        </p:nvSpPr>
        <p:spPr>
          <a:xfrm>
            <a:off x="10269689" y="2795591"/>
            <a:ext cx="148922" cy="193575"/>
          </a:xfrm>
          <a:prstGeom prst="flowChartMerg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Fluxograma: Mesclar 22">
            <a:extLst>
              <a:ext uri="{FF2B5EF4-FFF2-40B4-BE49-F238E27FC236}">
                <a16:creationId xmlns:a16="http://schemas.microsoft.com/office/drawing/2014/main" id="{7BF6AF85-0EA7-3D34-7D58-FB4115D03C3C}"/>
              </a:ext>
            </a:extLst>
          </p:cNvPr>
          <p:cNvSpPr/>
          <p:nvPr/>
        </p:nvSpPr>
        <p:spPr>
          <a:xfrm>
            <a:off x="9906000" y="2197678"/>
            <a:ext cx="148922" cy="193575"/>
          </a:xfrm>
          <a:prstGeom prst="flowChartMerg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luxograma: Mesclar 29">
            <a:extLst>
              <a:ext uri="{FF2B5EF4-FFF2-40B4-BE49-F238E27FC236}">
                <a16:creationId xmlns:a16="http://schemas.microsoft.com/office/drawing/2014/main" id="{7D8EEE4B-7540-26D5-B47C-C4E9795CBA13}"/>
              </a:ext>
            </a:extLst>
          </p:cNvPr>
          <p:cNvSpPr/>
          <p:nvPr/>
        </p:nvSpPr>
        <p:spPr>
          <a:xfrm>
            <a:off x="10269689" y="3407999"/>
            <a:ext cx="148922" cy="193575"/>
          </a:xfrm>
          <a:prstGeom prst="flowChartMerg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Fluxograma: Mesclar 34">
            <a:extLst>
              <a:ext uri="{FF2B5EF4-FFF2-40B4-BE49-F238E27FC236}">
                <a16:creationId xmlns:a16="http://schemas.microsoft.com/office/drawing/2014/main" id="{CB0A159A-9C00-580D-AC8F-CB693372CDAB}"/>
              </a:ext>
            </a:extLst>
          </p:cNvPr>
          <p:cNvSpPr/>
          <p:nvPr/>
        </p:nvSpPr>
        <p:spPr>
          <a:xfrm>
            <a:off x="9374116" y="3601574"/>
            <a:ext cx="148922" cy="193575"/>
          </a:xfrm>
          <a:prstGeom prst="flowChartMerge">
            <a:avLst/>
          </a:prstGeom>
          <a:solidFill>
            <a:srgbClr val="C000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Fluxograma: Mesclar 42">
            <a:extLst>
              <a:ext uri="{FF2B5EF4-FFF2-40B4-BE49-F238E27FC236}">
                <a16:creationId xmlns:a16="http://schemas.microsoft.com/office/drawing/2014/main" id="{6CF03EB9-5A19-F563-2143-7661B59196B8}"/>
              </a:ext>
            </a:extLst>
          </p:cNvPr>
          <p:cNvSpPr/>
          <p:nvPr/>
        </p:nvSpPr>
        <p:spPr>
          <a:xfrm>
            <a:off x="9567047" y="4552022"/>
            <a:ext cx="148922" cy="193575"/>
          </a:xfrm>
          <a:prstGeom prst="flowChartMerge">
            <a:avLst/>
          </a:prstGeom>
          <a:solidFill>
            <a:srgbClr val="C000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Fluxograma: Mesclar 43">
            <a:extLst>
              <a:ext uri="{FF2B5EF4-FFF2-40B4-BE49-F238E27FC236}">
                <a16:creationId xmlns:a16="http://schemas.microsoft.com/office/drawing/2014/main" id="{EC0D9EDB-8664-BDEB-2FB2-38BDE8649400}"/>
              </a:ext>
            </a:extLst>
          </p:cNvPr>
          <p:cNvSpPr/>
          <p:nvPr/>
        </p:nvSpPr>
        <p:spPr>
          <a:xfrm>
            <a:off x="9481586" y="2602016"/>
            <a:ext cx="148922" cy="193575"/>
          </a:xfrm>
          <a:prstGeom prst="flowChartMerge">
            <a:avLst/>
          </a:prstGeom>
          <a:solidFill>
            <a:srgbClr val="C000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Fluxograma: Mesclar 44">
            <a:extLst>
              <a:ext uri="{FF2B5EF4-FFF2-40B4-BE49-F238E27FC236}">
                <a16:creationId xmlns:a16="http://schemas.microsoft.com/office/drawing/2014/main" id="{47D06A40-0ED0-2FC1-CCE7-E4C1A43EC7A4}"/>
              </a:ext>
            </a:extLst>
          </p:cNvPr>
          <p:cNvSpPr/>
          <p:nvPr/>
        </p:nvSpPr>
        <p:spPr>
          <a:xfrm>
            <a:off x="9102528" y="4614365"/>
            <a:ext cx="148922" cy="193575"/>
          </a:xfrm>
          <a:prstGeom prst="flowChartMerge">
            <a:avLst/>
          </a:prstGeom>
          <a:solidFill>
            <a:srgbClr val="C000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Fluxograma: Mesclar 45">
            <a:extLst>
              <a:ext uri="{FF2B5EF4-FFF2-40B4-BE49-F238E27FC236}">
                <a16:creationId xmlns:a16="http://schemas.microsoft.com/office/drawing/2014/main" id="{BFC0BC2A-570C-6EC3-175B-10E86D4DA0F1}"/>
              </a:ext>
            </a:extLst>
          </p:cNvPr>
          <p:cNvSpPr/>
          <p:nvPr/>
        </p:nvSpPr>
        <p:spPr>
          <a:xfrm>
            <a:off x="10134268" y="3214420"/>
            <a:ext cx="148922" cy="193575"/>
          </a:xfrm>
          <a:prstGeom prst="flowChartMerge">
            <a:avLst/>
          </a:prstGeom>
          <a:solidFill>
            <a:srgbClr val="C000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2F5AA234-97A4-F308-5631-2C63491B7D27}"/>
              </a:ext>
            </a:extLst>
          </p:cNvPr>
          <p:cNvGrpSpPr/>
          <p:nvPr/>
        </p:nvGrpSpPr>
        <p:grpSpPr>
          <a:xfrm>
            <a:off x="6714434" y="3474541"/>
            <a:ext cx="2113029" cy="1139824"/>
            <a:chOff x="7171429" y="2364962"/>
            <a:chExt cx="2113029" cy="1139824"/>
          </a:xfrm>
        </p:grpSpPr>
        <p:sp>
          <p:nvSpPr>
            <p:cNvPr id="47" name="Balão de Fala: Retângulo com Cantos Arredondados 46">
              <a:extLst>
                <a:ext uri="{FF2B5EF4-FFF2-40B4-BE49-F238E27FC236}">
                  <a16:creationId xmlns:a16="http://schemas.microsoft.com/office/drawing/2014/main" id="{A9511A35-ABE9-9551-D2BA-0104A6B58C43}"/>
                </a:ext>
              </a:extLst>
            </p:cNvPr>
            <p:cNvSpPr/>
            <p:nvPr/>
          </p:nvSpPr>
          <p:spPr>
            <a:xfrm>
              <a:off x="7171429" y="2364962"/>
              <a:ext cx="2113029" cy="1139824"/>
            </a:xfrm>
            <a:prstGeom prst="wedgeRoundRectCallout">
              <a:avLst>
                <a:gd name="adj1" fmla="val 56550"/>
                <a:gd name="adj2" fmla="val 74979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0" name="Imagem 49">
              <a:extLst>
                <a:ext uri="{FF2B5EF4-FFF2-40B4-BE49-F238E27FC236}">
                  <a16:creationId xmlns:a16="http://schemas.microsoft.com/office/drawing/2014/main" id="{AB3EAF14-C0C6-0F94-D82B-FB1DB825B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31295" y="2435829"/>
              <a:ext cx="1959887" cy="972166"/>
            </a:xfrm>
            <a:prstGeom prst="rect">
              <a:avLst/>
            </a:prstGeom>
          </p:spPr>
        </p:pic>
      </p:grpSp>
      <p:sp>
        <p:nvSpPr>
          <p:cNvPr id="54" name="Fluxograma: Mesclar 53">
            <a:extLst>
              <a:ext uri="{FF2B5EF4-FFF2-40B4-BE49-F238E27FC236}">
                <a16:creationId xmlns:a16="http://schemas.microsoft.com/office/drawing/2014/main" id="{3921D681-ADA8-2499-A351-05B9A3A3D87B}"/>
              </a:ext>
            </a:extLst>
          </p:cNvPr>
          <p:cNvSpPr/>
          <p:nvPr/>
        </p:nvSpPr>
        <p:spPr>
          <a:xfrm>
            <a:off x="9010906" y="4869413"/>
            <a:ext cx="148922" cy="193575"/>
          </a:xfrm>
          <a:prstGeom prst="flowChartMerge">
            <a:avLst/>
          </a:prstGeom>
          <a:solidFill>
            <a:srgbClr val="C000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6061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242</Words>
  <Application>Microsoft Office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Consolas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Haroldo Durães</dc:creator>
  <cp:lastModifiedBy>Haroldo Durães</cp:lastModifiedBy>
  <cp:revision>1</cp:revision>
  <dcterms:created xsi:type="dcterms:W3CDTF">2025-11-12T15:10:35Z</dcterms:created>
  <dcterms:modified xsi:type="dcterms:W3CDTF">2025-11-12T16:47:23Z</dcterms:modified>
</cp:coreProperties>
</file>